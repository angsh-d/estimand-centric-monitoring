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01"/>
    <p:restoredTop sz="94610"/>
  </p:normalViewPr>
  <p:slideViewPr>
    <p:cSldViewPr snapToGrid="0" snapToObjects="1">
      <p:cViewPr>
        <p:scale>
          <a:sx n="155" d="100"/>
          <a:sy n="155" d="100"/>
        </p:scale>
        <p:origin x="30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198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70844F-3A0C-EDF9-972D-54A413FC262F}"/>
              </a:ext>
            </a:extLst>
          </p:cNvPr>
          <p:cNvSpPr txBox="1"/>
          <p:nvPr userDrawn="1"/>
        </p:nvSpPr>
        <p:spPr>
          <a:xfrm>
            <a:off x="112295" y="4924926"/>
            <a:ext cx="11229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aseline="0" dirty="0">
                <a:latin typeface="Open Sans" panose="020B0606030504020204" pitchFamily="34" charset="0"/>
              </a:rPr>
              <a:t>2026 Saama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1BD16-9030-277B-27C2-73A10CE45F37}"/>
              </a:ext>
            </a:extLst>
          </p:cNvPr>
          <p:cNvSpPr txBox="1"/>
          <p:nvPr userDrawn="1"/>
        </p:nvSpPr>
        <p:spPr>
          <a:xfrm>
            <a:off x="8791073" y="4924926"/>
            <a:ext cx="3529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6A9FAB4-1EB4-9F40-9623-6810702C0A1D}" type="slidenum">
              <a:rPr lang="en-US" sz="600" baseline="0" smtClean="0">
                <a:latin typeface="Open Sans" panose="020B0606030504020204" pitchFamily="34" charset="0"/>
              </a:rPr>
              <a:t>‹#›</a:t>
            </a:fld>
            <a:endParaRPr lang="en-US" sz="600" baseline="0" dirty="0">
              <a:latin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22860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De-Risking the Path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Database Lock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Estimand-driven monitoring intelligence for clinical trials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FPI-to-DBL timelines consistently overrun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of delay costs sponsors in patent life, competitive positioning,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patient access to therapies that may already be proven effective.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803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3566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Phase III overruns exceed plan by 6–12 months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265176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8803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332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703320" y="3566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of delay can cost $600K–$8M in lost revenue depending on therapeutic area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265176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88036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impact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46520" y="3566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access to effective therapies while data issues are resolved post-LPLV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9598" y="25316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39598" y="570795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drives FPI-to-DBL duration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9598" y="123574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pace &amp; patient retention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65678" y="1235741"/>
            <a:ext cx="4114800" cy="274320"/>
          </a:xfrm>
          <a:prstGeom prst="roundRect">
            <a:avLst>
              <a:gd name="adj" fmla="val 13333"/>
            </a:avLst>
          </a:prstGeom>
          <a:solidFill>
            <a:srgbClr val="D2D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9598" y="1519205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recruitment across sites post-FPI; dropout and screen failure extend enrollment windows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9598" y="187582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duration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5678" y="1875821"/>
            <a:ext cx="3429000" cy="274320"/>
          </a:xfrm>
          <a:prstGeom prst="roundRect">
            <a:avLst>
              <a:gd name="adj" fmla="val 13333"/>
            </a:avLst>
          </a:prstGeom>
          <a:solidFill>
            <a:srgbClr val="D2D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39598" y="2159285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protocol design — cannot be compressed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39598" y="251590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amendments during conduct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65678" y="2515901"/>
            <a:ext cx="2057400" cy="274320"/>
          </a:xfrm>
          <a:prstGeom prst="roundRect">
            <a:avLst>
              <a:gd name="adj" fmla="val 13333"/>
            </a:avLst>
          </a:prstGeom>
          <a:solidFill>
            <a:srgbClr val="D2D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39598" y="2799365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Mid-study amendments force re-consent, retraining; each cycle adds 3–6 months (Tufts CSDD)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19558" y="3084667"/>
            <a:ext cx="73152" cy="1230284"/>
          </a:xfrm>
          <a:prstGeom prst="roundRect">
            <a:avLst>
              <a:gd name="adj" fmla="val 25000"/>
            </a:avLst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2281" y="3440728"/>
            <a:ext cx="5172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kern="0" spc="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</a:p>
        </p:txBody>
      </p:sp>
      <p:sp>
        <p:nvSpPr>
          <p:cNvPr id="18" name="Text 16"/>
          <p:cNvSpPr/>
          <p:nvPr/>
        </p:nvSpPr>
        <p:spPr>
          <a:xfrm>
            <a:off x="1139598" y="315598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monitoring effectiveness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65678" y="3155981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39598" y="3439445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compound silently during conduct and surface at pre-lock; LPLV-to-DBL up 40% since 2017 (Tufts CSDD / eClinical Solutions)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9598" y="379606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LPLV-to-DBL close-out &amp; reconciliation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65678" y="3796061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39598" y="4079525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resolution, cross-system reconciliation, lock readiness; avg 36 days, growing (Tufts CSDD, 2017)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9558" y="4491005"/>
            <a:ext cx="6905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2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comparison — relative contribution varies significantly by therapeutic area, phase, protocol complexity, and geography representing approximate share of FPI-to-DBL calendar time, not cost.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51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662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estimand defines what matters.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Monitoring should follow.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3205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870365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327565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CRAs treat all findings with equal urgency </a:t>
            </a: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distinction between what threatens the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analysis and what doesn’t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830485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Low-tier noise buries high-impact issues</a:t>
            </a: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eligibility and endpoint problems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undetected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333405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pre-lock, the full backlog surfaces 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expands to resolve months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undifferentiated findings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733205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870365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Estimand-driven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327565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SAP estimand defines which data points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critical to the primary analysis 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derivation chain makes this explicit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0" y="2830485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is prioritized by analytical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</a:t>
            </a: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 focus on findings that</a:t>
            </a:r>
            <a:endParaRPr lang="en-US" sz="105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 study success or failure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0" y="3333405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reconciliation compress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effort was correctly focused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the study, not just at close-out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293525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linking every monitoring finding to the estimand’s derivation chain, CRA effort concentrates on what</a:t>
            </a:r>
            <a:r>
              <a:rPr lang="en-US" sz="1100" dirty="0"/>
              <a:t> </a:t>
            </a:r>
            <a:r>
              <a:rPr lang="en-US" sz="11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determines study outcome — compressing the data quality and reconciliation phases that drive lock delays.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monitoring today has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link to analytical consequence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00400" y="2468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 review 6+ disconnected systems with no systematic link between them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3127248"/>
            <a:ext cx="768096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91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analytical grounding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200400" y="3246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based on experience and intuition, not derivation chains to the estimand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3904488"/>
            <a:ext cx="768096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690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200400" y="4023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windows close and Tier 1 issues get buried because no one traced the impact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736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04563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derivation chain already exists.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will operationalize it for monitoring.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1664814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0" y="166481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Estimand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212201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2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304894"/>
            <a:ext cx="4572000" cy="431479"/>
          </a:xfrm>
          <a:prstGeom prst="roundRect">
            <a:avLst>
              <a:gd name="adj" fmla="val 12121"/>
            </a:avLst>
          </a:prstGeom>
          <a:solidFill>
            <a:srgbClr val="F5F5F7"/>
          </a:solidFill>
          <a:ln/>
          <a:effectLst>
            <a:outerShdw blurRad="1270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2286000" y="2304894"/>
            <a:ext cx="4572000" cy="431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Requirements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(Endpoint + ICE + Population Gates)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2926686"/>
            <a:ext cx="4572000" cy="117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2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944974"/>
            <a:ext cx="4572000" cy="313803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  <a:effectLst>
            <a:outerShdw blurRad="1270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2286000" y="2944974"/>
            <a:ext cx="4572000" cy="313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Assessments &amp; Timepoints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0" y="3402174"/>
            <a:ext cx="4572000" cy="117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2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3585054"/>
            <a:ext cx="4572000" cy="313803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  <a:effectLst>
            <a:outerShdw blurRad="1270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286000" y="3585054"/>
            <a:ext cx="4572000" cy="313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0" y="4042254"/>
            <a:ext cx="4572000" cy="117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2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4225134"/>
            <a:ext cx="4572000" cy="313803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  <a:effectLst>
            <a:outerShdw blurRad="1270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2286000" y="4225134"/>
            <a:ext cx="4572000" cy="313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eCRF Form / Item Mapping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65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371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Estimand-driven monitoring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87424"/>
            <a:ext cx="320040" cy="320040"/>
          </a:xfrm>
          <a:prstGeom prst="ellipse">
            <a:avLst/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87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6691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the criticality model from your SAP and protocol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172056"/>
            <a:ext cx="71323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373224"/>
            <a:ext cx="320040" cy="320040"/>
          </a:xfrm>
          <a:prstGeom prst="ellipse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373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3549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each eCRF item through the full derivation chain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2857856"/>
            <a:ext cx="71323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3059024"/>
            <a:ext cx="320040" cy="320040"/>
          </a:xfrm>
          <a:prstGeom prst="ellipse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059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0407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prioritizes signals by analytical consequence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3543656"/>
            <a:ext cx="713232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744824"/>
            <a:ext cx="320040" cy="320040"/>
          </a:xfrm>
          <a:prstGeom prst="ellipse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744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7265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site dossiers with complete reasoning traceability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329042"/>
            <a:ext cx="8117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isn’t a score — it’s a specific argument about which estimand</a:t>
            </a:r>
            <a:r>
              <a:rPr lang="en-US" sz="1200" dirty="0"/>
              <a:t> </a:t>
            </a:r>
            <a:r>
              <a:rPr lang="en-US" sz="12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threatened, through which path, with what consequence.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capabilities, building progressively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8191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 Model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01752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tiered model from SAP and protocol with full estimand-to-eCRF traceability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value from Day 1 — document inputs only, no integration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075688"/>
            <a:ext cx="79552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4028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167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017520" y="2167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reconciliation across all clinical data sources with evidence-cited findings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400800" y="2167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12-step pipeline: deterministic structured + LLM unstructured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2734056"/>
            <a:ext cx="79552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986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825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017520" y="28254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plan revision with full reasoning visibility and criticality context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0" y="28254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 ask questions in natural language — the platform shows its work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1520" y="3392424"/>
            <a:ext cx="79552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5701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3483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Dossier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017520" y="34838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intelligence: prioritized issues, evaluability flags, recommended visit focus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400800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traced to its estimand consequence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31520" y="4050792"/>
            <a:ext cx="795528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15384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43000" y="4142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MVR CoPilot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017520" y="41422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MVR from dossier and dispositions, adapts to CRA writing style over time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400800" y="4142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documentation burden; CRA retains full authority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70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89449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agentic AI — not rules, not dashboards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2409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59528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098209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thresholds and flags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674281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reason across documents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3250353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context and consequence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3826425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scenario requires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1412409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94760" y="159528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2098209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specialist agents with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quality controls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94760" y="2674281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unstructured narratives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cites evidence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94760" y="3250353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findings through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chains to estimands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94760" y="3826425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human feedback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monitoring cycles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1412409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9400" y="159528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/ Chat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2098209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pre-flight validation 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29400" y="2674281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study memory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29400" y="3250353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reflection 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29400" y="3826425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auditability, versioning,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provenance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56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66447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 authority at every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365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 Gates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600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8394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 model requires statistician and medical monitor sign-off before driving any monitoring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97796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4612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signals (potential unreported SAEs, eligibility violations) require mandatory human review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19588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30830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 have final authority over all dossier content, MVR text, and disposition decisions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4138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7048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contradictions are surfaced with evidence — never auto-resolved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5029200" y="13365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Defensibility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029200" y="18394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framing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029200" y="20405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never makes monitoring decisions, classifies deviations, or determines reportability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029200" y="24612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provenance chain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029200" y="26623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traceable to versioned criticality model, data timestamps, LLM model, and agent config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029200" y="30830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audit trail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029200" y="32841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operations (Tier 1) produce identical outputs from identical inputs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029200" y="37048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LLM reasoning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029200" y="39059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 2 outputs evidence-cited with confidence levels and complete prompt logging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31520" y="4485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are decision support, reviewed and acted upon by qualified clinical personnel. Always.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736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72479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Reasons across all systems —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data warehouse required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61199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89835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218399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629879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629879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2629879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57400" y="2629879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2629879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0" y="2629879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Lab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5840" y="3087079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087079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57400" y="3087079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57400" y="3087079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3087079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08960" y="3087079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761199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189835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218399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with evidence-cited outputs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642647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reports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874787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narratives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131641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correspondence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372019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138639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through identity resolution — not centralization.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large &amp; complex ETL projects. Faster time to value.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5773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05813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Fifteen specialist agents, three architectural layers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39717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939717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0" y="939717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 Orchestrator    ·    Feature 1–4 Orchestrator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515789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51578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 Criticality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616373"/>
            <a:ext cx="122301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616373"/>
            <a:ext cx="1223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Analyst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86250" y="1616373"/>
            <a:ext cx="122301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86250" y="1616373"/>
            <a:ext cx="1223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Analyst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46420" y="1616373"/>
            <a:ext cx="122301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46420" y="1616373"/>
            <a:ext cx="1223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Chain Builder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06590" y="1616373"/>
            <a:ext cx="122301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06590" y="1616373"/>
            <a:ext cx="1223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QA Reviewer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027853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2027853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Signal Detection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2128437"/>
            <a:ext cx="1223010" cy="256032"/>
          </a:xfrm>
          <a:prstGeom prst="roundRect">
            <a:avLst>
              <a:gd name="adj" fmla="val 21429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6080" y="2128437"/>
            <a:ext cx="1223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Scanner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86250" y="2128437"/>
            <a:ext cx="1223010" cy="256032"/>
          </a:xfrm>
          <a:prstGeom prst="roundRect">
            <a:avLst>
              <a:gd name="adj" fmla="val 21429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86250" y="2128437"/>
            <a:ext cx="1223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Enrichment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46420" y="2128437"/>
            <a:ext cx="1223010" cy="256032"/>
          </a:xfrm>
          <a:prstGeom prst="roundRect">
            <a:avLst>
              <a:gd name="adj" fmla="val 21429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46420" y="2128437"/>
            <a:ext cx="1223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Analyst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06590" y="2128437"/>
            <a:ext cx="1223010" cy="256032"/>
          </a:xfrm>
          <a:prstGeom prst="roundRect">
            <a:avLst>
              <a:gd name="adj" fmla="val 21429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06590" y="2128437"/>
            <a:ext cx="1223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Interpreter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2539917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2539917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Investigation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0" y="2640501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26080" y="2640501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Agent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" y="3051981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3051981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Site Dossier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926080" y="3152565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926080" y="3152565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Composer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152565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3152565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Tracker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3564045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3564045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MVR CoPilot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26080" y="3664629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26080" y="3664629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MVR Drafter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664629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63440" y="3664629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Calibrator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1520" y="4088877"/>
            <a:ext cx="7680960" cy="438912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14400" y="4088877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0" y="4088877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Memory    ·    Cycle Memory    ·    Platform Memory    ·    Disposition Store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1520" y="46474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follows a standardized loop: pre-flight → execution → reflection → output. Same framework, different config.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it compares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680960" cy="2834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scores from statistical models;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 opaque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Derivation-chain reasoning;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priority is a visible argument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Single-system dashboards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12+ month ETL projects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over data in place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across all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 of MVRs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clinical documents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reads documents, connects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structured findings, cites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Grounding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data quality 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finding traced to 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estimand and derivation 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audit trail;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scoring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provenance, human-in-the-loop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validation, regulatory defensible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13617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0817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this means for LPLV-to-DBL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39497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1D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68097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233857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LPLV-to-DBL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2645337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issues surface in-cycle rather than accumulating to pre-lock. Fewer surprises during the reconciliation phase that typically pushes DBL out by weeks or months.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639497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868097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2233857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CRA effort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703320" y="2645337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time shifts from low-tier noise to analytically consequential findings. Monitoring becomes focused on what actually threatens the primary analysis, not generic data quality checks.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639497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68097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2233857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evaluability visibility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46520" y="2645337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know which sites and subjects are at risk of being non-evaluable for the primary analysis before it’s too late to intervene — not at pre-lock when the damage is done.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31520" y="423835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eliminates the late-stage surprises</a:t>
            </a:r>
            <a:r>
              <a:rPr lang="en-US" sz="1100" dirty="0"/>
              <a:t> </a:t>
            </a:r>
            <a:r>
              <a:rPr lang="en-US" sz="11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are the most common and most preventable cause of lock delays.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22860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monitoring finding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traced to its analytical consequence.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support. Full traceability. Human authority preserved. Shorter LLPLV-DBL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1289</Words>
  <Application>Microsoft Macintosh PowerPoint</Application>
  <PresentationFormat>On-screen Show (16:9)</PresentationFormat>
  <Paragraphs>244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Estimand-Driven Intelligent Monitoring Platform</dc:title>
  <dc:subject>PptxGenJS Presentation</dc:subject>
  <dc:creator>Angshuman</dc:creator>
  <cp:lastModifiedBy>Angshuman Deb</cp:lastModifiedBy>
  <cp:revision>5</cp:revision>
  <dcterms:created xsi:type="dcterms:W3CDTF">2026-02-14T16:47:29Z</dcterms:created>
  <dcterms:modified xsi:type="dcterms:W3CDTF">2026-02-14T21:29:45Z</dcterms:modified>
</cp:coreProperties>
</file>